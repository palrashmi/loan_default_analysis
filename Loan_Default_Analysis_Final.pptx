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3286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3223260"/>
            <a:ext cx="347472" cy="1645920"/>
          </a:xfrm>
          <a:prstGeom prst="rect">
            <a:avLst/>
          </a:prstGeom>
          <a:solidFill>
            <a:srgbClr val="00897B">
              <a:alpha val="30000"/>
            </a:srgbClr>
          </a:solidFill>
          <a:ln w="12700">
            <a:solidFill>
              <a:srgbClr val="00897B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0" y="2308860"/>
            <a:ext cx="347472" cy="2560320"/>
          </a:xfrm>
          <a:prstGeom prst="rect">
            <a:avLst/>
          </a:prstGeom>
          <a:solidFill>
            <a:srgbClr val="00897B">
              <a:alpha val="30000"/>
            </a:srgbClr>
          </a:solidFill>
          <a:ln w="12700">
            <a:solidFill>
              <a:srgbClr val="00897B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857500"/>
            <a:ext cx="347472" cy="2011680"/>
          </a:xfrm>
          <a:prstGeom prst="rect">
            <a:avLst/>
          </a:prstGeom>
          <a:solidFill>
            <a:srgbClr val="00897B">
              <a:alpha val="30000"/>
            </a:srgbClr>
          </a:solidFill>
          <a:ln w="12700">
            <a:solidFill>
              <a:srgbClr val="00897B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0" y="1760220"/>
            <a:ext cx="347472" cy="3108960"/>
          </a:xfrm>
          <a:prstGeom prst="rect">
            <a:avLst/>
          </a:prstGeom>
          <a:solidFill>
            <a:srgbClr val="00897B">
              <a:alpha val="30000"/>
            </a:srgbClr>
          </a:solidFill>
          <a:ln w="12700">
            <a:solidFill>
              <a:srgbClr val="00897B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0" y="2491740"/>
            <a:ext cx="347472" cy="2377440"/>
          </a:xfrm>
          <a:prstGeom prst="rect">
            <a:avLst/>
          </a:prstGeom>
          <a:solidFill>
            <a:srgbClr val="00897B">
              <a:alpha val="30000"/>
            </a:srgbClr>
          </a:solidFill>
          <a:ln w="12700">
            <a:solidFill>
              <a:srgbClr val="00897B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03920" y="1211580"/>
            <a:ext cx="347472" cy="3657600"/>
          </a:xfrm>
          <a:prstGeom prst="rect">
            <a:avLst/>
          </a:prstGeom>
          <a:solidFill>
            <a:srgbClr val="00897B">
              <a:alpha val="30000"/>
            </a:srgbClr>
          </a:solidFill>
          <a:ln w="12700">
            <a:solidFill>
              <a:srgbClr val="00897B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05840"/>
            <a:ext cx="54864" cy="29260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96012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Default Analysis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85800" y="19202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Power BI Service &amp; Dataflow</a:t>
            </a:r>
            <a:endParaRPr lang="en-US" sz="2400" dirty="0">
              <a:solidFill>
                <a:srgbClr val="FFC000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713232" y="2581736"/>
            <a:ext cx="1600200" cy="326056"/>
          </a:xfrm>
          <a:prstGeom prst="rect">
            <a:avLst/>
          </a:prstGeom>
          <a:solidFill>
            <a:srgbClr val="102A43"/>
          </a:solidFill>
          <a:ln w="635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491740"/>
            <a:ext cx="16002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Service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23160" y="2606040"/>
            <a:ext cx="1600200" cy="274320"/>
          </a:xfrm>
          <a:prstGeom prst="rect">
            <a:avLst/>
          </a:prstGeom>
          <a:solidFill>
            <a:srgbClr val="102A43"/>
          </a:solidFill>
          <a:ln w="6350">
            <a:solidFill>
              <a:srgbClr val="0089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3160" y="2468880"/>
            <a:ext cx="1600200" cy="463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60520" y="2606040"/>
            <a:ext cx="1600200" cy="274320"/>
          </a:xfrm>
          <a:prstGeom prst="rect">
            <a:avLst/>
          </a:prstGeom>
          <a:solidFill>
            <a:srgbClr val="102A43"/>
          </a:solidFill>
          <a:ln w="6350">
            <a:solidFill>
              <a:srgbClr val="0089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60520" y="2491740"/>
            <a:ext cx="1600200" cy="4403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Dataflow Gen1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897880" y="2606040"/>
            <a:ext cx="1600200" cy="274320"/>
          </a:xfrm>
          <a:prstGeom prst="rect">
            <a:avLst/>
          </a:prstGeom>
          <a:solidFill>
            <a:srgbClr val="102A43"/>
          </a:solidFill>
          <a:ln w="6350">
            <a:solidFill>
              <a:srgbClr val="0089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97880" y="260604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635240" y="2606040"/>
            <a:ext cx="1600200" cy="274320"/>
          </a:xfrm>
          <a:prstGeom prst="rect">
            <a:avLst/>
          </a:prstGeom>
          <a:solidFill>
            <a:srgbClr val="102A43"/>
          </a:solidFill>
          <a:ln w="6350">
            <a:solidFill>
              <a:srgbClr val="0089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35240" y="260604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5800" y="3090672"/>
            <a:ext cx="5029200" cy="3657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246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r>
              <a:rPr lang="en-US" sz="16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Data Analyst</a:t>
            </a:r>
            <a:endParaRPr lang="en-US" sz="1600" dirty="0">
              <a:solidFill>
                <a:schemeClr val="bg2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685800" y="3657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Project  •  Data Analytics  •  Business Intelligence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194560" cy="2926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20116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&amp; Objectives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34747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325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801368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defaults represent major financial risk for banks &amp; NBFCs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2514600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487168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high-risk borrowers before disbursement is critical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3200400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172968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processes lack data-driven precision and speed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3886200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858768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centralized, refreshable data for real-time risk monitoring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118872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1298448"/>
            <a:ext cx="438912" cy="43891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298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49240" y="123444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 &amp; Transform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49240" y="1536192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Dataflow in Power BI Service for clean, reusable data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2039112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2148840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1488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49240" y="208483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Default Patterns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49240" y="2386584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key risk factors across demographics &amp; loan attributes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2889504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2999232"/>
            <a:ext cx="438912" cy="4389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9992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49240" y="293522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Interactive Dashboards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49240" y="3236976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Multi-page reports with drill-through and slicers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3739896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3849624"/>
            <a:ext cx="438912" cy="43891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38496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49240" y="378561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Reporting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49240" y="408736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refresh for always up-to-date business intelligence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194560" cy="2926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20116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Default Dataset  —  255,347 Records · 21 Features · 2013–2023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18745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15568"/>
            <a:ext cx="187452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255K+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773936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50008" y="1115568"/>
            <a:ext cx="18745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350008" y="1115568"/>
            <a:ext cx="187452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188720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350008" y="1773936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34256" y="1115568"/>
            <a:ext cx="18745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34256" y="1115568"/>
            <a:ext cx="187452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34256" y="1188720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~11.5%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334256" y="1773936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18504" y="1115568"/>
            <a:ext cx="2459736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18504" y="1115568"/>
            <a:ext cx="2459736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18504" y="1188720"/>
            <a:ext cx="24597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Yrs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318504" y="1773936"/>
            <a:ext cx="2459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331720"/>
            <a:ext cx="2057400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331720"/>
            <a:ext cx="2057400" cy="3474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33172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Borrower Profile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" y="2788920"/>
            <a:ext cx="1828800" cy="310896"/>
          </a:xfrm>
          <a:prstGeom prst="rect">
            <a:avLst/>
          </a:prstGeom>
          <a:solidFill>
            <a:srgbClr val="00897B">
              <a:alpha val="10000"/>
            </a:srgbClr>
          </a:solidFill>
          <a:ln w="12700">
            <a:solidFill>
              <a:srgbClr val="00897B">
                <a:alpha val="3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280720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" y="3172968"/>
            <a:ext cx="1828800" cy="310896"/>
          </a:xfrm>
          <a:prstGeom prst="rect">
            <a:avLst/>
          </a:prstGeom>
          <a:solidFill>
            <a:srgbClr val="00897B">
              <a:alpha val="10000"/>
            </a:srgbClr>
          </a:solidFill>
          <a:ln w="12700">
            <a:solidFill>
              <a:srgbClr val="00897B">
                <a:alpha val="3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191256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" y="3557016"/>
            <a:ext cx="1828800" cy="310896"/>
          </a:xfrm>
          <a:prstGeom prst="rect">
            <a:avLst/>
          </a:prstGeom>
          <a:solidFill>
            <a:srgbClr val="00897B">
              <a:alpha val="10000"/>
            </a:srgbClr>
          </a:solidFill>
          <a:ln w="12700">
            <a:solidFill>
              <a:srgbClr val="00897B">
                <a:alpha val="3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575304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" y="3941064"/>
            <a:ext cx="1828800" cy="310896"/>
          </a:xfrm>
          <a:prstGeom prst="rect">
            <a:avLst/>
          </a:prstGeom>
          <a:solidFill>
            <a:srgbClr val="00897B">
              <a:alpha val="10000"/>
            </a:srgbClr>
          </a:solidFill>
          <a:ln w="12700">
            <a:solidFill>
              <a:srgbClr val="00897B">
                <a:alpha val="3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95935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MaritalStatus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" y="4325112"/>
            <a:ext cx="1828800" cy="310896"/>
          </a:xfrm>
          <a:prstGeom prst="rect">
            <a:avLst/>
          </a:prstGeom>
          <a:solidFill>
            <a:srgbClr val="00897B">
              <a:alpha val="10000"/>
            </a:srgbClr>
          </a:solidFill>
          <a:ln w="12700">
            <a:solidFill>
              <a:srgbClr val="00897B">
                <a:alpha val="3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3434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HasDependents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560320" y="2331720"/>
            <a:ext cx="2057400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560320" y="2331720"/>
            <a:ext cx="20574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60320" y="233172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Attributes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670048" y="2788920"/>
            <a:ext cx="1828800" cy="310896"/>
          </a:xfrm>
          <a:prstGeom prst="rect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97480" y="280720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LoanAmount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670048" y="3172968"/>
            <a:ext cx="1828800" cy="310896"/>
          </a:xfrm>
          <a:prstGeom prst="rect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97480" y="3191256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InterestRate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670048" y="3557016"/>
            <a:ext cx="1828800" cy="310896"/>
          </a:xfrm>
          <a:prstGeom prst="rect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97480" y="3575304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LoanTerm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670048" y="3941064"/>
            <a:ext cx="1828800" cy="310896"/>
          </a:xfrm>
          <a:prstGeom prst="rect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97480" y="395935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LoanPurpose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670048" y="4325112"/>
            <a:ext cx="1828800" cy="310896"/>
          </a:xfrm>
          <a:prstGeom prst="rect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697480" y="43434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DTIRatio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754880" y="2331720"/>
            <a:ext cx="2057400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754880" y="2331720"/>
            <a:ext cx="205740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54880" y="233172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&amp; Employment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864608" y="2788920"/>
            <a:ext cx="1828800" cy="310896"/>
          </a:xfrm>
          <a:prstGeom prst="rect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92040" y="280720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CreditScore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864608" y="3172968"/>
            <a:ext cx="1828800" cy="310896"/>
          </a:xfrm>
          <a:prstGeom prst="rect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92040" y="3191256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EmploymentType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864608" y="3557016"/>
            <a:ext cx="1828800" cy="310896"/>
          </a:xfrm>
          <a:prstGeom prst="rect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92040" y="3575304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MonthsEmployed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864608" y="3941064"/>
            <a:ext cx="1828800" cy="310896"/>
          </a:xfrm>
          <a:prstGeom prst="rect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92040" y="395935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NumCreditLines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864608" y="4325112"/>
            <a:ext cx="1828800" cy="310896"/>
          </a:xfrm>
          <a:prstGeom prst="rect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92040" y="43434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HasMortgage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949440" y="2331720"/>
            <a:ext cx="2057400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949440" y="2331720"/>
            <a:ext cx="205740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949440" y="233172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&amp; Derived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7059168" y="2788920"/>
            <a:ext cx="1828800" cy="310896"/>
          </a:xfrm>
          <a:prstGeom prst="rect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086600" y="280720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(0/1)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7059168" y="3172968"/>
            <a:ext cx="1828800" cy="310896"/>
          </a:xfrm>
          <a:prstGeom prst="rect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086600" y="3191256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7059168" y="3557016"/>
            <a:ext cx="1828800" cy="310896"/>
          </a:xfrm>
          <a:prstGeom prst="rect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086600" y="3575304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Groups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7059168" y="3941064"/>
            <a:ext cx="1828800" cy="310896"/>
          </a:xfrm>
          <a:prstGeom prst="rect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086600" y="395935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Bracket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7059168" y="4325112"/>
            <a:ext cx="1828800" cy="310896"/>
          </a:xfrm>
          <a:prstGeom prst="rect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086600" y="43434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 Bins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194560" cy="2926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16459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Architecture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flows from raw source to business insights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1325880" cy="2560320"/>
          </a:xfrm>
          <a:prstGeom prst="rect">
            <a:avLst/>
          </a:prstGeom>
          <a:solidFill>
            <a:srgbClr val="102A43"/>
          </a:solidFill>
          <a:ln w="12700">
            <a:solidFill>
              <a:srgbClr val="1E88E5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13816" y="1600200"/>
            <a:ext cx="530352" cy="530352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3816" y="160020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" y="224028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633472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Excel/CSV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255K Records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783080" y="1828800"/>
            <a:ext cx="91440" cy="256032"/>
          </a:xfrm>
          <a:prstGeom prst="rightArrow">
            <a:avLst/>
          </a:prstGeom>
          <a:solidFill>
            <a:srgbClr val="00897B">
              <a:alpha val="60000"/>
            </a:srgbClr>
          </a:solidFill>
          <a:ln w="12700">
            <a:solidFill>
              <a:srgbClr val="00897B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65376" y="1508760"/>
            <a:ext cx="1325880" cy="2560320"/>
          </a:xfrm>
          <a:prstGeom prst="rect">
            <a:avLst/>
          </a:prstGeom>
          <a:solidFill>
            <a:srgbClr val="102A43"/>
          </a:solidFill>
          <a:ln w="12700">
            <a:solidFill>
              <a:srgbClr val="00897B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67712" y="1600200"/>
            <a:ext cx="530352" cy="53035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7712" y="160020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865376" y="224028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Dataflow ETL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65376" y="2633472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Service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36976" y="1828800"/>
            <a:ext cx="91440" cy="256032"/>
          </a:xfrm>
          <a:prstGeom prst="rightArrow">
            <a:avLst/>
          </a:prstGeom>
          <a:solidFill>
            <a:srgbClr val="00897B">
              <a:alpha val="60000"/>
            </a:srgbClr>
          </a:solidFill>
          <a:ln w="12700">
            <a:solidFill>
              <a:srgbClr val="00897B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19272" y="1508760"/>
            <a:ext cx="1325880" cy="2560320"/>
          </a:xfrm>
          <a:prstGeom prst="rect">
            <a:avLst/>
          </a:prstGeom>
          <a:solidFill>
            <a:srgbClr val="102A43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21608" y="1600200"/>
            <a:ext cx="530352" cy="5303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21608" y="160020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319272" y="224028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Model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19272" y="2633472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90872" y="1828800"/>
            <a:ext cx="91440" cy="256032"/>
          </a:xfrm>
          <a:prstGeom prst="rightArrow">
            <a:avLst/>
          </a:prstGeom>
          <a:solidFill>
            <a:srgbClr val="00897B">
              <a:alpha val="60000"/>
            </a:srgbClr>
          </a:solidFill>
          <a:ln w="12700">
            <a:solidFill>
              <a:srgbClr val="00897B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73168" y="1508760"/>
            <a:ext cx="1325880" cy="2560320"/>
          </a:xfrm>
          <a:prstGeom prst="rect">
            <a:avLst/>
          </a:prstGeom>
          <a:solidFill>
            <a:srgbClr val="102A43"/>
          </a:solidFill>
          <a:ln w="1270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175504" y="1600200"/>
            <a:ext cx="530352" cy="5303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75504" y="160020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773168" y="224028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73168" y="2633472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&amp; Business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44768" y="1828800"/>
            <a:ext cx="91440" cy="256032"/>
          </a:xfrm>
          <a:prstGeom prst="rightArrow">
            <a:avLst/>
          </a:prstGeom>
          <a:solidFill>
            <a:srgbClr val="00897B">
              <a:alpha val="60000"/>
            </a:srgbClr>
          </a:solidFill>
          <a:ln w="12700">
            <a:solidFill>
              <a:srgbClr val="00897B">
                <a:alpha val="6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27064" y="1508760"/>
            <a:ext cx="1325880" cy="25603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629400" y="1600200"/>
            <a:ext cx="530352" cy="5303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29400" y="160020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227064" y="224028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27064" y="2633472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Multi-page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598664" y="1828800"/>
            <a:ext cx="91440" cy="256032"/>
          </a:xfrm>
          <a:prstGeom prst="rightArrow">
            <a:avLst/>
          </a:prstGeom>
          <a:solidFill>
            <a:srgbClr val="00897B">
              <a:alpha val="60000"/>
            </a:srgbClr>
          </a:solidFill>
          <a:ln w="12700">
            <a:solidFill>
              <a:srgbClr val="00897B">
                <a:alpha val="6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680960" y="1508760"/>
            <a:ext cx="1325880" cy="2560320"/>
          </a:xfrm>
          <a:prstGeom prst="rect">
            <a:avLst/>
          </a:prstGeom>
          <a:solidFill>
            <a:srgbClr val="102A43"/>
          </a:solidFill>
          <a:ln w="12700">
            <a:solidFill>
              <a:srgbClr val="EF4444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083296" y="1600200"/>
            <a:ext cx="530352" cy="5303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83296" y="160020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680960" y="224028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Refresh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680960" y="2633472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Updates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Service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11480" y="4297680"/>
            <a:ext cx="1965960" cy="274320"/>
          </a:xfrm>
          <a:prstGeom prst="rect">
            <a:avLst/>
          </a:prstGeom>
          <a:solidFill>
            <a:srgbClr val="00897B">
              <a:alpha val="20000"/>
            </a:srgbClr>
          </a:solidFill>
          <a:ln w="12700">
            <a:solidFill>
              <a:srgbClr val="00897B">
                <a:alpha val="5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42976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Centralized Transformation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587752" y="4297680"/>
            <a:ext cx="1965960" cy="274320"/>
          </a:xfrm>
          <a:prstGeom prst="rect">
            <a:avLst/>
          </a:prstGeom>
          <a:solidFill>
            <a:srgbClr val="00897B">
              <a:alpha val="20000"/>
            </a:srgbClr>
          </a:solidFill>
          <a:ln w="12700">
            <a:solidFill>
              <a:srgbClr val="00897B">
                <a:alpha val="5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87752" y="42976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Reusable Dataset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64024" y="4297680"/>
            <a:ext cx="1965960" cy="274320"/>
          </a:xfrm>
          <a:prstGeom prst="rect">
            <a:avLst/>
          </a:prstGeom>
          <a:solidFill>
            <a:srgbClr val="00897B">
              <a:alpha val="20000"/>
            </a:srgbClr>
          </a:solidFill>
          <a:ln w="12700">
            <a:solidFill>
              <a:srgbClr val="00897B">
                <a:alpha val="5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64024" y="42976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Cloud-Scalable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940296" y="4297680"/>
            <a:ext cx="1965960" cy="274320"/>
          </a:xfrm>
          <a:prstGeom prst="rect">
            <a:avLst/>
          </a:prstGeom>
          <a:solidFill>
            <a:srgbClr val="00897B">
              <a:alpha val="20000"/>
            </a:srgbClr>
          </a:solidFill>
          <a:ln w="12700">
            <a:solidFill>
              <a:srgbClr val="00897B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40296" y="42976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Automated Refresh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194560" cy="2926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20116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Dataflow ETL  +  Star Schema Data Model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114800" cy="36576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618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DATAFLOW — ETL STEPS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709928"/>
            <a:ext cx="256032" cy="25603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0992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68249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1883664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raw Excel into Dataflow Gen1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2139696"/>
            <a:ext cx="256032" cy="25603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13969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211226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Columns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2313432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names (e.g. Loan Date)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2569464"/>
            <a:ext cx="256032" cy="25603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56946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" y="254203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Data Types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274320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Integer, Decimal, Text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2999232"/>
            <a:ext cx="256032" cy="25603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9992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68680" y="297180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Nulls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3172968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Replace/remove blank rows &amp; columns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" y="3429000"/>
            <a:ext cx="256032" cy="25603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4290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68680" y="34015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Columns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8680" y="3602736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extracted from Loan Date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02920" y="3858768"/>
            <a:ext cx="256032" cy="25603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8587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68680" y="383133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Rows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68680" y="4032504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test/invalid loan records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2920" y="4288536"/>
            <a:ext cx="256032" cy="25603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42885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68680" y="426110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68680" y="4462272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&amp; publish to Power BI Service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1143000"/>
            <a:ext cx="416052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800600" y="12618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MODEL — STAR SCHEMA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943600" y="1874520"/>
            <a:ext cx="1187875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466945" y="1901952"/>
            <a:ext cx="23054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Loan_default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59421" y="2304288"/>
            <a:ext cx="2494691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LoanID (PK)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304817" y="2395728"/>
            <a:ext cx="2449295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LoanAmount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304817" y="2542032"/>
            <a:ext cx="2449295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InterestRate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259421" y="2734056"/>
            <a:ext cx="2375819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DTIRatio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466945" y="2788920"/>
            <a:ext cx="228716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(Target)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695444" y="1530420"/>
            <a:ext cx="1202436" cy="1280160"/>
          </a:xfrm>
          <a:prstGeom prst="rect">
            <a:avLst/>
          </a:prstGeom>
          <a:solidFill>
            <a:srgbClr val="00897B">
              <a:alpha val="15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1563624"/>
            <a:ext cx="1627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DIM: Borrower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782312" y="1804740"/>
            <a:ext cx="1554480" cy="2800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782312" y="2084832"/>
            <a:ext cx="15544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Bracket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782312" y="2313432"/>
            <a:ext cx="15544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782312" y="2578608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MaritalStatus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250348" y="1481328"/>
            <a:ext cx="1454739" cy="1280160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50348" y="1481328"/>
            <a:ext cx="1418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DIM: Loan Type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336988" y="1627632"/>
            <a:ext cx="1285804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LoanPurpose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373565" y="1920240"/>
            <a:ext cx="124922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HasMortgage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7373566" y="2194560"/>
            <a:ext cx="124922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HasCoSigner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7373566" y="2359152"/>
            <a:ext cx="124922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LoanTerm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709160" y="3474720"/>
            <a:ext cx="1554480" cy="1280160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54880" y="3520440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DIM: Employment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4782312" y="3803904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EmploymentType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782312" y="40233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MonthsEmployed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4782312" y="4242816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7086600" y="3474720"/>
            <a:ext cx="1627632" cy="1280160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250348" y="3300984"/>
            <a:ext cx="1418164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DIM: Date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7250348" y="3712464"/>
            <a:ext cx="13724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7250348" y="3941064"/>
            <a:ext cx="137244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Loan_Date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7250348" y="4160520"/>
            <a:ext cx="137244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7250348" y="4361688"/>
            <a:ext cx="137244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19456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16459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 &amp; Calculated Columns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DAX formulas powering all KPIs and business metrics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412748"/>
            <a:ext cx="2788920" cy="3337560"/>
          </a:xfrm>
          <a:prstGeom prst="rect">
            <a:avLst/>
          </a:prstGeom>
          <a:solidFill>
            <a:srgbClr val="102A43"/>
          </a:solidFill>
          <a:ln w="12700">
            <a:solidFill>
              <a:srgbClr val="00897B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89888"/>
            <a:ext cx="2788920" cy="3200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89888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KPIs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828800"/>
            <a:ext cx="2578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 by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2606040" cy="804672"/>
          </a:xfrm>
          <a:prstGeom prst="rect">
            <a:avLst/>
          </a:prstGeom>
          <a:solidFill>
            <a:srgbClr val="0B1929"/>
          </a:solidFill>
          <a:ln w="12700">
            <a:solidFill>
              <a:srgbClr val="00897B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76272"/>
            <a:ext cx="2514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DIVIDE(CALCULATE(COUNTROWS(FILTER(...,Default=TRUE())),ALLEXCEPT(...,Year)), totalloans)*100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75488" y="3218688"/>
            <a:ext cx="2578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Default Loans Change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538728"/>
            <a:ext cx="2606040" cy="804672"/>
          </a:xfrm>
          <a:prstGeom prst="rect">
            <a:avLst/>
          </a:prstGeom>
          <a:solidFill>
            <a:srgbClr val="0B1929"/>
          </a:solidFill>
          <a:ln w="12700">
            <a:solidFill>
              <a:srgbClr val="00897B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566160"/>
            <a:ext cx="2514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DIVIDE(CurrentYearDefaults − PrevYearDefaults, PrevYearDefaults, 0)*100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91840" y="1389888"/>
            <a:ext cx="2788920" cy="3337560"/>
          </a:xfrm>
          <a:prstGeom prst="rect">
            <a:avLst/>
          </a:prstGeom>
          <a:solidFill>
            <a:srgbClr val="102A43"/>
          </a:solidFill>
          <a:ln w="1270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91840" y="1389888"/>
            <a:ext cx="278892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1389888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01568" y="1828800"/>
            <a:ext cx="2578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Loan Amt (High Credit)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83280" y="2148840"/>
            <a:ext cx="2606040" cy="804672"/>
          </a:xfrm>
          <a:prstGeom prst="rect">
            <a:avLst/>
          </a:prstGeom>
          <a:solidFill>
            <a:srgbClr val="0B1929"/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29000" y="2176272"/>
            <a:ext cx="2514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AVERAGEX(FILTER(Loan_default,[Credit Score Bins]="High"),[LoanAmount])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401568" y="3218688"/>
            <a:ext cx="2578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 by Employment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83280" y="3538728"/>
            <a:ext cx="2606040" cy="804672"/>
          </a:xfrm>
          <a:prstGeom prst="rect">
            <a:avLst/>
          </a:prstGeom>
          <a:solidFill>
            <a:srgbClr val="0B1929"/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3566160"/>
            <a:ext cx="2514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CALCULATE(DIVIDE(DefaultCases,totalrecords),ALLEXCEPT(...,EmploymentType))*100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217920" y="1389888"/>
            <a:ext cx="2788920" cy="3337560"/>
          </a:xfrm>
          <a:prstGeom prst="rect">
            <a:avLst/>
          </a:prstGeom>
          <a:solidFill>
            <a:srgbClr val="102A43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1389888"/>
            <a:ext cx="278892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1389888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Intelligence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27648" y="1828800"/>
            <a:ext cx="2578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Loan Amount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09360" y="2148840"/>
            <a:ext cx="2606040" cy="804672"/>
          </a:xfrm>
          <a:prstGeom prst="rect">
            <a:avLst/>
          </a:prstGeom>
          <a:solidFill>
            <a:srgbClr val="0B1929"/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2176272"/>
            <a:ext cx="2514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CALCULATE(SUM([LoanAmount]),DATESYTD([Loan_Date]),ALLEXCEPT(...,CreditBins,MaritalStatus))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27648" y="3218688"/>
            <a:ext cx="2578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Loan Amount Change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09360" y="3538728"/>
            <a:ext cx="2606040" cy="804672"/>
          </a:xfrm>
          <a:prstGeom prst="rect">
            <a:avLst/>
          </a:prstGeom>
          <a:solidFill>
            <a:srgbClr val="0B1929"/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3566160"/>
            <a:ext cx="2514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DIVIDE(CurrentYearAmt − PrevYearAmt, PrevYearAmt, 0)*100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49028" y="47731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Columns: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515570" y="4773168"/>
            <a:ext cx="1309180" cy="315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Year → YEAR([Loan_Date])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738255" y="481431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Income Bracket → Low / Medium / High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54880" y="477316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Credit Score Bins → Very Low → High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949440" y="477316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 Groups → Teen / Adult / Middle / Senior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6400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PAGE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0" y="64008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Default &amp; Overview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2029968" cy="804672"/>
          </a:xfrm>
          <a:prstGeom prst="rect">
            <a:avLst/>
          </a:prstGeom>
          <a:solidFill>
            <a:srgbClr val="102A43"/>
          </a:solidFill>
          <a:ln w="12700">
            <a:solidFill>
              <a:srgbClr val="00897B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621792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1078992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Loans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50592" y="594360"/>
            <a:ext cx="2029968" cy="804672"/>
          </a:xfrm>
          <a:prstGeom prst="rect">
            <a:avLst/>
          </a:prstGeom>
          <a:solidFill>
            <a:srgbClr val="102A43"/>
          </a:solidFill>
          <a:ln w="12700">
            <a:solidFill>
              <a:srgbClr val="EF4444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50592" y="621792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11.5%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50592" y="1078992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26864" y="594360"/>
            <a:ext cx="2029968" cy="804672"/>
          </a:xfrm>
          <a:prstGeom prst="rect">
            <a:avLst/>
          </a:prstGeom>
          <a:solidFill>
            <a:srgbClr val="102A43"/>
          </a:solidFill>
          <a:ln w="1270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26864" y="621792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29,336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26864" y="1078992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Defaulted Loans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03136" y="594360"/>
            <a:ext cx="2029968" cy="804672"/>
          </a:xfrm>
          <a:prstGeom prst="rect">
            <a:avLst/>
          </a:prstGeom>
          <a:solidFill>
            <a:srgbClr val="102A43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03136" y="621792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$125.9K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803136" y="1078992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Loan Amount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Slicer: Year  |  Employment Type  |  Education  |  Loan Purpose</a:t>
            </a:r>
            <a:endParaRPr lang="en-US" sz="850" dirty="0"/>
          </a:p>
        </p:txBody>
      </p:sp>
      <p:pic>
        <p:nvPicPr>
          <p:cNvPr id="85" name="Picture 84">
            <a:extLst>
              <a:ext uri="{FF2B5EF4-FFF2-40B4-BE49-F238E27FC236}">
                <a16:creationId xmlns:a16="http://schemas.microsoft.com/office/drawing/2014/main" id="{C3E48E5C-C571-F333-46F6-CC8FE48117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80" y="1490472"/>
            <a:ext cx="9100039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6400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PAGE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0" y="64008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 Demographic &amp; Financial Profile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2029968" cy="804672"/>
          </a:xfrm>
          <a:prstGeom prst="rect">
            <a:avLst/>
          </a:prstGeom>
          <a:solidFill>
            <a:srgbClr val="102A43"/>
          </a:solidFill>
          <a:ln w="12700">
            <a:solidFill>
              <a:srgbClr val="00897B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621792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1078992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Age (Yrs)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50592" y="594360"/>
            <a:ext cx="2029968" cy="804672"/>
          </a:xfrm>
          <a:prstGeom prst="rect">
            <a:avLst/>
          </a:prstGeom>
          <a:solidFill>
            <a:srgbClr val="102A43"/>
          </a:solidFill>
          <a:ln w="1270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50592" y="621792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$65.8K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50592" y="1078992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Income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26864" y="594360"/>
            <a:ext cx="2029968" cy="804672"/>
          </a:xfrm>
          <a:prstGeom prst="rect">
            <a:avLst/>
          </a:prstGeom>
          <a:solidFill>
            <a:srgbClr val="102A43"/>
          </a:solidFill>
          <a:ln w="1270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26864" y="621792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26864" y="1078992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DTI Ratio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03136" y="594360"/>
            <a:ext cx="2029968" cy="804672"/>
          </a:xfrm>
          <a:prstGeom prst="rect">
            <a:avLst/>
          </a:prstGeom>
          <a:solidFill>
            <a:srgbClr val="102A43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03136" y="621792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577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803136" y="1078992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Credit Score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Slicer: Age Group  |  Credit Score Bins  |  Income Bracket  |  Education</a:t>
            </a:r>
            <a:endParaRPr lang="en-US" sz="850" dirty="0"/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4E845A22-4E95-8D42-F02A-3E59244AB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319" y="1490472"/>
            <a:ext cx="8535362" cy="3611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6400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PAGE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0" y="64008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Risk Metrics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2029968" cy="804672"/>
          </a:xfrm>
          <a:prstGeom prst="rect">
            <a:avLst/>
          </a:prstGeom>
          <a:solidFill>
            <a:srgbClr val="102A43"/>
          </a:solidFill>
          <a:ln w="12700">
            <a:solidFill>
              <a:srgbClr val="EF4444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621792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1078992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DTI Ratio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50592" y="594360"/>
            <a:ext cx="2029968" cy="804672"/>
          </a:xfrm>
          <a:prstGeom prst="rect">
            <a:avLst/>
          </a:prstGeom>
          <a:solidFill>
            <a:srgbClr val="102A43"/>
          </a:solidFill>
          <a:ln w="1270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50592" y="621792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15.2%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50592" y="1078992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Interest Rate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26864" y="594360"/>
            <a:ext cx="2029968" cy="804672"/>
          </a:xfrm>
          <a:prstGeom prst="rect">
            <a:avLst/>
          </a:prstGeom>
          <a:solidFill>
            <a:srgbClr val="102A43"/>
          </a:solidFill>
          <a:ln w="12700">
            <a:solidFill>
              <a:srgbClr val="00897B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26864" y="621792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$29.2B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26864" y="1078992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Loan Volume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03136" y="594360"/>
            <a:ext cx="2029968" cy="804672"/>
          </a:xfrm>
          <a:prstGeom prst="rect">
            <a:avLst/>
          </a:prstGeom>
          <a:solidFill>
            <a:srgbClr val="102A43"/>
          </a:solidFill>
          <a:ln w="1270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03136" y="621792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-8.3%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803136" y="1078992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Default Change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Drill-through  |  Decomposition Tree  |  Ribbon Chart  |  YOY Cards  |  Dynamic Slicers</a:t>
            </a:r>
            <a:endParaRPr lang="en-US" sz="850" dirty="0"/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D5C36786-F933-2DCB-B914-22F872EAF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693" y="1490472"/>
            <a:ext cx="8636613" cy="337335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194560" cy="2926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20116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Data-Driven Business Insights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64008" cy="1188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52728"/>
            <a:ext cx="475488" cy="47548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527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21615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 is #1 Risk Indicator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1581912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Borrowers with score &lt;450 show disproportionately high default rates. High credit bin (&gt;650) shows significantly lower defaults.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1143000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143000"/>
            <a:ext cx="64008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37760" y="1252728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2527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32120" y="121615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Unemployment Drives Default Risk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32120" y="1581912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Unemployed borrowers default at a higher rate than full-time employees. Self-employed show moderate risk with high income variance.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468880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468880"/>
            <a:ext cx="64008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2578608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57860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254203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DTI Correlates with Default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2907792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DTI ratio above 0.5 strongly correlates with default. Low-income borrowers with high loan amounts show compounded risk.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00600" y="2468880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2468880"/>
            <a:ext cx="64008" cy="11887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37760" y="2578608"/>
            <a:ext cx="475488" cy="475488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257860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32120" y="254203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Default Rate Trends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32120" y="2907792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 analysis reveals cyclical patterns in default rates during economic stress. Gradual improvement seen post-2018.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794760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794760"/>
            <a:ext cx="64008" cy="11887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3904488"/>
            <a:ext cx="475488" cy="475488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9044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97280" y="386791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Purpose Impacts Risk Profile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97280" y="4233672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&amp; 'Other' loans have higher default rates vs. home or education loans — suggesting purpose-based credit adjustments.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00600" y="3794760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00600" y="3794760"/>
            <a:ext cx="64008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37760" y="3904488"/>
            <a:ext cx="475488" cy="47548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39044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532120" y="386791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Adults (20–30) are High-Risk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532120" y="4233672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Teen and young adult groups show lower creditworthiness due to shorter employment history and lower income levels.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19456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20116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IMPACT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Solved  +  Business Value Delivered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64008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43000"/>
            <a:ext cx="1097280" cy="777240"/>
          </a:xfrm>
          <a:prstGeom prst="rect">
            <a:avLst/>
          </a:prstGeom>
          <a:solidFill>
            <a:srgbClr val="EF4444">
              <a:alpha val="10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44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72768" y="1197864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Inconsistent date formats, blank LoanIDs, mixed data types in Income and CreditScore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47488" y="1234440"/>
            <a:ext cx="3611880" cy="594360"/>
          </a:xfrm>
          <a:prstGeom prst="rect">
            <a:avLst/>
          </a:prstGeom>
          <a:solidFill>
            <a:srgbClr val="EF4444">
              <a:alpha val="12000"/>
            </a:srgbClr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38928" y="1252728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Power Query in Dataflow: explicit data types, null replacement, conditional columns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039112"/>
            <a:ext cx="84124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039112"/>
            <a:ext cx="64008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039112"/>
            <a:ext cx="1097280" cy="777240"/>
          </a:xfrm>
          <a:prstGeom prst="rect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240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Complexity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572768" y="2093976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YOY calculations returning blank results due to incorrect year context in CALCULATE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47488" y="2130552"/>
            <a:ext cx="3611880" cy="594360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38928" y="214884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Debugged via DAX Studio. Used VAR to separate context, ALLEXCEPT applied correctly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935224"/>
            <a:ext cx="84124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935224"/>
            <a:ext cx="64008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935224"/>
            <a:ext cx="1097280" cy="777240"/>
          </a:xfrm>
          <a:prstGeom prst="rect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13639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572768" y="2990088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255K rows caused slow rendering. Nested DAX took 8+ seconds to load KPI cards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47488" y="3026664"/>
            <a:ext cx="3611880" cy="594360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38928" y="3044952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Enabled Query Folding, simplified DAX measures, used Import mode over DirectQuery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3831336"/>
            <a:ext cx="84124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831336"/>
            <a:ext cx="64008" cy="7772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3831336"/>
            <a:ext cx="1097280" cy="777240"/>
          </a:xfrm>
          <a:prstGeom prst="rect">
            <a:avLst/>
          </a:prstGeom>
          <a:solidFill>
            <a:srgbClr val="1E88E5">
              <a:alpha val="10000"/>
            </a:srgbClr>
          </a:solidFill>
          <a:ln w="12700">
            <a:solidFill>
              <a:srgbClr val="1E88E5">
                <a:alpha val="3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03250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Timing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572768" y="3886200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Dataflow refresh completed before Dataset refresh, causing stale data in dashboards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47488" y="3922776"/>
            <a:ext cx="3611880" cy="594360"/>
          </a:xfrm>
          <a:prstGeom prst="rect">
            <a:avLst/>
          </a:prstGeom>
          <a:solidFill>
            <a:srgbClr val="1E88E5">
              <a:alpha val="12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38928" y="3941064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Configured 30-min offset between Dataflow and Dataset refresh, monitored via Service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4681728"/>
            <a:ext cx="1938528" cy="3474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65760" y="4681728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~45%  Less manual prep — with Dataflow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468880" y="4681728"/>
            <a:ext cx="1938528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468880" y="4681728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8→1  Reports consolidated — into single source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0" y="4681728"/>
            <a:ext cx="1938528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572000" y="4681728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 Scheduled refresh — no manual update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675120" y="4681728"/>
            <a:ext cx="1938528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675120" y="4681728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360°  Holistic borrower — risk view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19456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16459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&amp;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Skills  ·  Future Improvements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572768" cy="2468880"/>
          </a:xfrm>
          <a:prstGeom prst="rect">
            <a:avLst/>
          </a:prstGeom>
          <a:solidFill>
            <a:srgbClr val="102A43"/>
          </a:solidFill>
          <a:ln w="12700">
            <a:solidFill>
              <a:srgbClr val="00897B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78992"/>
            <a:ext cx="1572768" cy="3200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78992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Service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109728" cy="109728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49047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management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002536"/>
            <a:ext cx="109728" cy="109728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984248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publishing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496312"/>
            <a:ext cx="109728" cy="109728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478024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sharing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990088"/>
            <a:ext cx="109728" cy="109728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297180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refresh setup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084832" y="1078992"/>
            <a:ext cx="1572768" cy="2468880"/>
          </a:xfrm>
          <a:prstGeom prst="rect">
            <a:avLst/>
          </a:prstGeom>
          <a:solidFill>
            <a:srgbClr val="102A43"/>
          </a:solidFill>
          <a:ln w="1270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084832" y="1078992"/>
            <a:ext cx="1572768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84832" y="1078992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Dataflows &amp; ETL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176272" y="150876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40864" y="149047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in cloud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176272" y="200253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40864" y="1984248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transformations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176272" y="249631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40864" y="2478024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 handling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176272" y="299008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40864" y="297180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columns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803904" y="1078992"/>
            <a:ext cx="1572768" cy="2468880"/>
          </a:xfrm>
          <a:prstGeom prst="rect">
            <a:avLst/>
          </a:prstGeom>
          <a:solidFill>
            <a:srgbClr val="102A43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803904" y="1078992"/>
            <a:ext cx="1572768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03904" y="1078992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895344" y="1508760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59936" y="149047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&amp; context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895344" y="2002536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59936" y="1984248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DATESYTD (time intel)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895344" y="2496312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59936" y="2478024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/ variance logic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895344" y="2990088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59936" y="297180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ALLEXCEPT patterns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522976" y="1078992"/>
            <a:ext cx="1572768" cy="2468880"/>
          </a:xfrm>
          <a:prstGeom prst="rect">
            <a:avLst/>
          </a:prstGeom>
          <a:solidFill>
            <a:srgbClr val="102A43"/>
          </a:solidFill>
          <a:ln w="1270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522976" y="1078992"/>
            <a:ext cx="1572768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22976" y="1078992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614416" y="150876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79008" y="149047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design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614416" y="200253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79008" y="1984248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relationships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614416" y="249631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79008" y="2478024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 setup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614416" y="299008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79008" y="297180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model design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242048" y="1078992"/>
            <a:ext cx="1572768" cy="2468880"/>
          </a:xfrm>
          <a:prstGeom prst="rect">
            <a:avLst/>
          </a:prstGeom>
          <a:solidFill>
            <a:srgbClr val="102A43"/>
          </a:solidFill>
          <a:ln w="12700">
            <a:solidFill>
              <a:srgbClr val="1E88E5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242048" y="1078992"/>
            <a:ext cx="1572768" cy="3200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42048" y="1078992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333488" y="1508760"/>
            <a:ext cx="109728" cy="109728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498080" y="149047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&amp; slicers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333488" y="2002536"/>
            <a:ext cx="109728" cy="109728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498080" y="1984248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Drill-through pages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7333488" y="2496312"/>
            <a:ext cx="109728" cy="109728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498080" y="2478024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formatting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7333488" y="2990088"/>
            <a:ext cx="109728" cy="109728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98080" y="297180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tooltips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365760" y="37307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1500" dirty="0"/>
          </a:p>
        </p:txBody>
      </p:sp>
      <p:sp>
        <p:nvSpPr>
          <p:cNvPr id="61" name="Shape 59"/>
          <p:cNvSpPr/>
          <p:nvPr/>
        </p:nvSpPr>
        <p:spPr>
          <a:xfrm>
            <a:off x="365760" y="4096512"/>
            <a:ext cx="2029968" cy="914400"/>
          </a:xfrm>
          <a:prstGeom prst="rect">
            <a:avLst/>
          </a:prstGeom>
          <a:solidFill>
            <a:srgbClr val="102A43"/>
          </a:solidFill>
          <a:ln w="12700">
            <a:solidFill>
              <a:srgbClr val="00897B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365760" y="4096512"/>
            <a:ext cx="2029968" cy="2560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65760" y="4096512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Predictive Analytics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38912" y="4389120"/>
            <a:ext cx="18836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Python/R script visuals, logistic regression for default probability score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2542032" y="4096512"/>
            <a:ext cx="2029968" cy="914400"/>
          </a:xfrm>
          <a:prstGeom prst="rect">
            <a:avLst/>
          </a:prstGeom>
          <a:solidFill>
            <a:srgbClr val="102A43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2542032" y="4096512"/>
            <a:ext cx="2029968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542032" y="4096512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ML Integration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2615184" y="4389120"/>
            <a:ext cx="18836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ML AutoML classification, Synapse Analytics, ML predictions via dataflows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4718304" y="4096512"/>
            <a:ext cx="2029968" cy="914400"/>
          </a:xfrm>
          <a:prstGeom prst="rect">
            <a:avLst/>
          </a:prstGeom>
          <a:solidFill>
            <a:srgbClr val="102A43"/>
          </a:solidFill>
          <a:ln w="1270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4718304" y="4096512"/>
            <a:ext cx="2029968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718304" y="4096512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Real-time Dashboards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4791456" y="4389120"/>
            <a:ext cx="18836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DirectQuery/Streaming datasets, Azure Event Hubs, live KPI monitoring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6894576" y="4096512"/>
            <a:ext cx="2029968" cy="9144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6894576" y="4096512"/>
            <a:ext cx="2029968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894576" y="4096512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— Enterprise Deployment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6967728" y="4389120"/>
            <a:ext cx="18836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Security, Paginated Reports for regulatory submissions, PBI Embedded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771900"/>
            <a:ext cx="274320" cy="1097280"/>
          </a:xfrm>
          <a:prstGeom prst="rect">
            <a:avLst/>
          </a:prstGeom>
          <a:solidFill>
            <a:srgbClr val="00897B">
              <a:alpha val="28000"/>
            </a:srgbClr>
          </a:solidFill>
          <a:ln w="12700">
            <a:solidFill>
              <a:srgbClr val="00897B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3131820"/>
            <a:ext cx="274320" cy="1737360"/>
          </a:xfrm>
          <a:prstGeom prst="rect">
            <a:avLst/>
          </a:prstGeom>
          <a:solidFill>
            <a:srgbClr val="00897B">
              <a:alpha val="28000"/>
            </a:srgbClr>
          </a:solidFill>
          <a:ln w="12700">
            <a:solidFill>
              <a:srgbClr val="00897B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0160" y="3497580"/>
            <a:ext cx="274320" cy="1371600"/>
          </a:xfrm>
          <a:prstGeom prst="rect">
            <a:avLst/>
          </a:prstGeom>
          <a:solidFill>
            <a:srgbClr val="00897B">
              <a:alpha val="28000"/>
            </a:srgbClr>
          </a:solidFill>
          <a:ln w="12700">
            <a:solidFill>
              <a:srgbClr val="00897B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2674620"/>
            <a:ext cx="274320" cy="2194560"/>
          </a:xfrm>
          <a:prstGeom prst="rect">
            <a:avLst/>
          </a:prstGeom>
          <a:solidFill>
            <a:srgbClr val="00897B">
              <a:alpha val="28000"/>
            </a:srgbClr>
          </a:solidFill>
          <a:ln w="12700">
            <a:solidFill>
              <a:srgbClr val="00897B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03120" y="3223260"/>
            <a:ext cx="274320" cy="1645920"/>
          </a:xfrm>
          <a:prstGeom prst="rect">
            <a:avLst/>
          </a:prstGeom>
          <a:solidFill>
            <a:srgbClr val="00897B">
              <a:alpha val="28000"/>
            </a:srgbClr>
          </a:solidFill>
          <a:ln w="12700">
            <a:solidFill>
              <a:srgbClr val="00897B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14600" y="2125980"/>
            <a:ext cx="274320" cy="2743200"/>
          </a:xfrm>
          <a:prstGeom prst="rect">
            <a:avLst/>
          </a:prstGeom>
          <a:solidFill>
            <a:srgbClr val="00897B">
              <a:alpha val="28000"/>
            </a:srgbClr>
          </a:solidFill>
          <a:ln w="12700">
            <a:solidFill>
              <a:srgbClr val="00897B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0"/>
            <a:ext cx="54864" cy="5143500"/>
          </a:xfrm>
          <a:prstGeom prst="rect">
            <a:avLst/>
          </a:prstGeom>
          <a:solidFill>
            <a:srgbClr val="00897B">
              <a:alpha val="40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82296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3474720" y="18745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for Questions &amp; Discussion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520440" y="2487168"/>
            <a:ext cx="137160" cy="13716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67328" y="245059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Power BI solution: Cloud Dataflow + Desktop + Service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20440" y="2926080"/>
            <a:ext cx="137160" cy="13716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67328" y="2889504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DAX: YOY, YTD, ALLEXCEPT, time intelligence measures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520440" y="3364992"/>
            <a:ext cx="137160" cy="13716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67328" y="3328416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3-page interactive dashboards with drill-through &amp; conditional formatting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520440" y="3803904"/>
            <a:ext cx="137160" cy="13716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67328" y="376732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scheduled refresh for real-time business insights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74720" y="4251960"/>
            <a:ext cx="5303520" cy="594360"/>
          </a:xfrm>
          <a:prstGeom prst="rect">
            <a:avLst/>
          </a:prstGeom>
          <a:solidFill>
            <a:srgbClr val="102A43"/>
          </a:solidFill>
          <a:ln w="6350">
            <a:solidFill>
              <a:srgbClr val="00897B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474720" y="425196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connect:  GitHub  |  LinkedIn  |  Portfolio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1212</Words>
  <Application>Microsoft Office PowerPoint</Application>
  <PresentationFormat>On-screen Show (16:9)</PresentationFormat>
  <Paragraphs>294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Rashmi Pal</cp:lastModifiedBy>
  <cp:revision>4</cp:revision>
  <dcterms:created xsi:type="dcterms:W3CDTF">2026-05-09T14:27:10Z</dcterms:created>
  <dcterms:modified xsi:type="dcterms:W3CDTF">2026-05-09T16:35:55Z</dcterms:modified>
</cp:coreProperties>
</file>